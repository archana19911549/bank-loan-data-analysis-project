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chana shinde" userId="f913e8f46c5dc923" providerId="LiveId" clId="{C458D80B-E560-4370-B5D7-9F655CA02126}"/>
    <pc:docChg chg="modSld">
      <pc:chgData name="archana shinde" userId="f913e8f46c5dc923" providerId="LiveId" clId="{C458D80B-E560-4370-B5D7-9F655CA02126}" dt="2026-09-26T07:10:00.248" v="21" actId="1076"/>
      <pc:docMkLst>
        <pc:docMk/>
      </pc:docMkLst>
      <pc:sldChg chg="modSp mod">
        <pc:chgData name="archana shinde" userId="f913e8f46c5dc923" providerId="LiveId" clId="{C458D80B-E560-4370-B5D7-9F655CA02126}" dt="2026-09-26T07:08:56.980" v="6" actId="20577"/>
        <pc:sldMkLst>
          <pc:docMk/>
          <pc:sldMk cId="1545457016" sldId="256"/>
        </pc:sldMkLst>
        <pc:spChg chg="mod">
          <ac:chgData name="archana shinde" userId="f913e8f46c5dc923" providerId="LiveId" clId="{C458D80B-E560-4370-B5D7-9F655CA02126}" dt="2026-09-26T07:08:56.980" v="6" actId="20577"/>
          <ac:spMkLst>
            <pc:docMk/>
            <pc:sldMk cId="1545457016" sldId="256"/>
            <ac:spMk id="3" creationId="{77D395D0-E197-445B-97D9-A53B0C5D97D0}"/>
          </ac:spMkLst>
        </pc:spChg>
      </pc:sldChg>
      <pc:sldChg chg="modSp mod">
        <pc:chgData name="archana shinde" userId="f913e8f46c5dc923" providerId="LiveId" clId="{C458D80B-E560-4370-B5D7-9F655CA02126}" dt="2026-09-26T07:10:00.248" v="21" actId="1076"/>
        <pc:sldMkLst>
          <pc:docMk/>
          <pc:sldMk cId="531374147" sldId="257"/>
        </pc:sldMkLst>
        <pc:spChg chg="mod">
          <ac:chgData name="archana shinde" userId="f913e8f46c5dc923" providerId="LiveId" clId="{C458D80B-E560-4370-B5D7-9F655CA02126}" dt="2026-09-26T07:09:30.439" v="19" actId="20577"/>
          <ac:spMkLst>
            <pc:docMk/>
            <pc:sldMk cId="531374147" sldId="257"/>
            <ac:spMk id="3" creationId="{E324D9BE-C755-42DA-AED7-4890674D5670}"/>
          </ac:spMkLst>
        </pc:spChg>
        <pc:graphicFrameChg chg="mod">
          <ac:chgData name="archana shinde" userId="f913e8f46c5dc923" providerId="LiveId" clId="{C458D80B-E560-4370-B5D7-9F655CA02126}" dt="2026-09-26T07:10:00.248" v="21" actId="1076"/>
          <ac:graphicFrameMkLst>
            <pc:docMk/>
            <pc:sldMk cId="531374147" sldId="257"/>
            <ac:graphicFrameMk id="17" creationId="{6E6B42F1-359B-4533-BAED-AAE13C0A99FE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D0D-486D-9308-C4C764FB9FF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D0D-486D-9308-C4C764FB9FF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D0D-486D-9308-C4C764FB9FF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D0D-486D-9308-C4C764FB9FF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2"/>
                <c:pt idx="0">
                  <c:v>SAFE</c:v>
                </c:pt>
                <c:pt idx="1">
                  <c:v>High 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3182</c:v>
                </c:pt>
                <c:pt idx="1">
                  <c:v>1818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6E-47EB-8341-B159F1C4A8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067075056585338"/>
          <c:y val="7.3406010858877352E-2"/>
          <c:w val="0.26311138391424899"/>
          <c:h val="0.5925743519587305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4D1-47E3-B700-44B4F525FAA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4D1-47E3-B700-44B4F525FAA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4D1-47E3-B700-44B4F525FAA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4D1-47E3-B700-44B4F525FAA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2"/>
                <c:pt idx="0">
                  <c:v>done</c:v>
                </c:pt>
                <c:pt idx="1">
                  <c:v>follo-uo-needed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2460</c:v>
                </c:pt>
                <c:pt idx="1">
                  <c:v>2540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54-49D3-BDB0-3C3A5744A3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184-45F6-B444-55236410AAB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184-45F6-B444-55236410AAB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184-45F6-B444-55236410AAB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184-45F6-B444-55236410AAB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total customers</c:v>
                </c:pt>
                <c:pt idx="1">
                  <c:v>safe customers</c:v>
                </c:pt>
                <c:pt idx="2">
                  <c:v>follow-up-due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5000</c:v>
                </c:pt>
                <c:pt idx="1">
                  <c:v>3182</c:v>
                </c:pt>
                <c:pt idx="2">
                  <c:v>2540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67-4B86-B140-A787064231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6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2" Type="http://schemas.microsoft.com/office/2007/relationships/hdphoto" Target="../media/hdphoto1.wdp"/><Relationship Id="rId1" Type="http://schemas.openxmlformats.org/officeDocument/2006/relationships/image" Target="../media/image1.png"/></Relationships>
</file>

<file path=ppt/diagrams/_rels/drawing1.xml.rels><?xml version="1.0" encoding="UTF-8" standalone="yes"?>
<Relationships xmlns="http://schemas.openxmlformats.org/package/2006/relationships"><Relationship Id="rId2" Type="http://schemas.microsoft.com/office/2007/relationships/hdphoto" Target="../media/hdphoto1.wdp"/><Relationship Id="rId1" Type="http://schemas.openxmlformats.org/officeDocument/2006/relationships/image" Target="../media/image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4E3413-71B2-4D2A-AF71-3F2299DB66B7}" type="doc">
      <dgm:prSet loTypeId="urn:microsoft.com/office/officeart/2008/layout/PictureGrid" loCatId="picture" qsTypeId="urn:microsoft.com/office/officeart/2005/8/quickstyle/simple1" qsCatId="simple" csTypeId="urn:microsoft.com/office/officeart/2005/8/colors/accent1_2" csCatId="accent1" phldr="1"/>
      <dgm:spPr/>
    </dgm:pt>
    <dgm:pt modelId="{10A8F62D-79D6-4AA7-B9B2-24D0DA7B5205}">
      <dgm:prSet phldrT="[Text]"/>
      <dgm:spPr/>
      <dgm:t>
        <a:bodyPr/>
        <a:lstStyle/>
        <a:p>
          <a:pPr algn="just"/>
          <a:r>
            <a:rPr lang="en-US" b="1" i="1" dirty="0"/>
            <a:t>LOAN TRACKER ANALYSIS</a:t>
          </a:r>
        </a:p>
      </dgm:t>
    </dgm:pt>
    <dgm:pt modelId="{4D2330A0-EC74-4415-A7BF-E8D45FC724C2}" type="parTrans" cxnId="{0373BAAF-C740-4EE6-AAA2-AD89CABC560C}">
      <dgm:prSet/>
      <dgm:spPr/>
      <dgm:t>
        <a:bodyPr/>
        <a:lstStyle/>
        <a:p>
          <a:endParaRPr lang="en-US"/>
        </a:p>
      </dgm:t>
    </dgm:pt>
    <dgm:pt modelId="{08AB61F9-7082-4221-95F2-31F03D1F6708}" type="sibTrans" cxnId="{0373BAAF-C740-4EE6-AAA2-AD89CABC560C}">
      <dgm:prSet/>
      <dgm:spPr/>
      <dgm:t>
        <a:bodyPr/>
        <a:lstStyle/>
        <a:p>
          <a:endParaRPr lang="en-US"/>
        </a:p>
      </dgm:t>
    </dgm:pt>
    <dgm:pt modelId="{5E1EDDCB-BA89-4E3C-BB59-AE81AA69CEBA}" type="pres">
      <dgm:prSet presAssocID="{A54E3413-71B2-4D2A-AF71-3F2299DB66B7}" presName="Name0" presStyleCnt="0">
        <dgm:presLayoutVars>
          <dgm:dir/>
        </dgm:presLayoutVars>
      </dgm:prSet>
      <dgm:spPr/>
    </dgm:pt>
    <dgm:pt modelId="{D9BAB6B4-4B49-4AD3-8F4B-5A2CD401F69C}" type="pres">
      <dgm:prSet presAssocID="{10A8F62D-79D6-4AA7-B9B2-24D0DA7B5205}" presName="composite" presStyleCnt="0"/>
      <dgm:spPr/>
    </dgm:pt>
    <dgm:pt modelId="{A9AD51C7-B6FA-4D5F-96EE-230110A9653C}" type="pres">
      <dgm:prSet presAssocID="{10A8F62D-79D6-4AA7-B9B2-24D0DA7B5205}" presName="rect2" presStyleLbl="revTx" presStyleIdx="0" presStyleCnt="1" custScaleX="132135" custScaleY="141402">
        <dgm:presLayoutVars>
          <dgm:bulletEnabled val="1"/>
        </dgm:presLayoutVars>
      </dgm:prSet>
      <dgm:spPr/>
    </dgm:pt>
    <dgm:pt modelId="{44D25422-7194-4B0B-A54B-878DAFF7E50C}" type="pres">
      <dgm:prSet presAssocID="{10A8F62D-79D6-4AA7-B9B2-24D0DA7B5205}" presName="rect1" presStyleLbl="alignImgPlace1" presStyleIdx="0" presStyleCnt="1" custLinFactNeighborX="-16123" custLinFactNeighborY="8643"/>
      <dgm:spPr>
        <a:blipFill>
          <a:blip xmlns:r="http://schemas.openxmlformats.org/officeDocument/2006/relationships"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</dgm:ptLst>
  <dgm:cxnLst>
    <dgm:cxn modelId="{0373BAAF-C740-4EE6-AAA2-AD89CABC560C}" srcId="{A54E3413-71B2-4D2A-AF71-3F2299DB66B7}" destId="{10A8F62D-79D6-4AA7-B9B2-24D0DA7B5205}" srcOrd="0" destOrd="0" parTransId="{4D2330A0-EC74-4415-A7BF-E8D45FC724C2}" sibTransId="{08AB61F9-7082-4221-95F2-31F03D1F6708}"/>
    <dgm:cxn modelId="{9CFD88B4-22C1-40FE-9B7A-C1F6FA03BCF4}" type="presOf" srcId="{A54E3413-71B2-4D2A-AF71-3F2299DB66B7}" destId="{5E1EDDCB-BA89-4E3C-BB59-AE81AA69CEBA}" srcOrd="0" destOrd="0" presId="urn:microsoft.com/office/officeart/2008/layout/PictureGrid"/>
    <dgm:cxn modelId="{CC8A4CFE-18CB-42C7-8642-5D49D7E15CDD}" type="presOf" srcId="{10A8F62D-79D6-4AA7-B9B2-24D0DA7B5205}" destId="{A9AD51C7-B6FA-4D5F-96EE-230110A9653C}" srcOrd="0" destOrd="0" presId="urn:microsoft.com/office/officeart/2008/layout/PictureGrid"/>
    <dgm:cxn modelId="{5D386570-A147-40AE-961F-DBAAD413152F}" type="presParOf" srcId="{5E1EDDCB-BA89-4E3C-BB59-AE81AA69CEBA}" destId="{D9BAB6B4-4B49-4AD3-8F4B-5A2CD401F69C}" srcOrd="0" destOrd="0" presId="urn:microsoft.com/office/officeart/2008/layout/PictureGrid"/>
    <dgm:cxn modelId="{B1CA15BD-644B-4356-9F33-EE418A7DB13F}" type="presParOf" srcId="{D9BAB6B4-4B49-4AD3-8F4B-5A2CD401F69C}" destId="{A9AD51C7-B6FA-4D5F-96EE-230110A9653C}" srcOrd="0" destOrd="0" presId="urn:microsoft.com/office/officeart/2008/layout/PictureGrid"/>
    <dgm:cxn modelId="{B0667424-CE08-4329-A6C2-220E731CD04D}" type="presParOf" srcId="{D9BAB6B4-4B49-4AD3-8F4B-5A2CD401F69C}" destId="{44D25422-7194-4B0B-A54B-878DAFF7E50C}" srcOrd="1" destOrd="0" presId="urn:microsoft.com/office/officeart/2008/layout/PictureGri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AD51C7-B6FA-4D5F-96EE-230110A9653C}">
      <dsp:nvSpPr>
        <dsp:cNvPr id="0" name=""/>
        <dsp:cNvSpPr/>
      </dsp:nvSpPr>
      <dsp:spPr>
        <a:xfrm>
          <a:off x="6" y="206557"/>
          <a:ext cx="5927022" cy="9514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63830" rIns="163830" bIns="0" numCol="1" spcCol="1270" anchor="b" anchorCtr="0">
          <a:noAutofit/>
        </a:bodyPr>
        <a:lstStyle/>
        <a:p>
          <a:pPr marL="0" lvl="0" indent="0" algn="just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1" i="1" kern="1200" dirty="0"/>
            <a:t>LOAN TRACKER ANALYSIS</a:t>
          </a:r>
        </a:p>
      </dsp:txBody>
      <dsp:txXfrm>
        <a:off x="6" y="206557"/>
        <a:ext cx="5927022" cy="951405"/>
      </dsp:txXfrm>
    </dsp:sp>
    <dsp:sp modelId="{44D25422-7194-4B0B-A54B-878DAFF7E50C}">
      <dsp:nvSpPr>
        <dsp:cNvPr id="0" name=""/>
        <dsp:cNvSpPr/>
      </dsp:nvSpPr>
      <dsp:spPr>
        <a:xfrm>
          <a:off x="0" y="1441455"/>
          <a:ext cx="4485580" cy="44855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Grid">
  <dgm:title val=""/>
  <dgm:desc val=""/>
  <dgm:catLst>
    <dgm:cat type="picture" pri="11000"/>
    <dgm:cat type="pictureconvert" pri="1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</dgm:varLst>
    <dgm:choose name="Name1">
      <dgm:if name="Name2" axis="ch" ptType="node" func="cnt" op="lte" val="4">
        <dgm:choose name="Name3">
          <dgm:if name="Name4" func="var" arg="dir" op="equ" val="norm">
            <dgm:alg type="snake">
              <dgm:param type="off" val="ctr"/>
              <dgm:param type="bkpt" val="fixed"/>
              <dgm:param type="bkPtFixedVal" val="2"/>
            </dgm:alg>
          </dgm:if>
          <dgm:else name="Name5">
            <dgm:alg type="snake">
              <dgm:param type="off" val="ctr"/>
              <dgm:param type="grDir" val="tR"/>
              <dgm:param type="bkpt" val="fixed"/>
              <dgm:param type="bkPtFixedVal" val="2"/>
            </dgm:alg>
          </dgm:else>
        </dgm:choose>
      </dgm:if>
      <dgm:else name="Name6">
        <dgm:choose name="Name7">
          <dgm:if name="Name8" axis="ch" ptType="node" func="cnt" op="lte" val="9">
            <dgm:choose name="Name9">
              <dgm:if name="Name10" func="var" arg="dir" op="equ" val="norm">
                <dgm:alg type="snake">
                  <dgm:param type="off" val="ctr"/>
                  <dgm:param type="bkpt" val="fixed"/>
                  <dgm:param type="bkPtFixedVal" val="3"/>
                </dgm:alg>
              </dgm:if>
              <dgm:else name="Name11">
                <dgm:alg type="snake">
                  <dgm:param type="off" val="ctr"/>
                  <dgm:param type="grDir" val="tR"/>
                  <dgm:param type="bkpt" val="fixed"/>
                  <dgm:param type="bkPtFixedVal" val="3"/>
                </dgm:alg>
              </dgm:else>
            </dgm:choose>
          </dgm:if>
          <dgm:else name="Name12">
            <dgm:choose name="Name13">
              <dgm:if name="Name14" axis="ch" ptType="node" func="cnt" op="lte" val="16">
                <dgm:choose name="Name15">
                  <dgm:if name="Name16" func="var" arg="dir" op="equ" val="norm">
                    <dgm:alg type="snake">
                      <dgm:param type="off" val="ctr"/>
                      <dgm:param type="bkpt" val="fixed"/>
                      <dgm:param type="bkPtFixedVal" val="4"/>
                    </dgm:alg>
                  </dgm:if>
                  <dgm:else name="Name17">
                    <dgm:alg type="snake">
                      <dgm:param type="off" val="ctr"/>
                      <dgm:param type="grDir" val="tR"/>
                      <dgm:param type="bkpt" val="fixed"/>
                      <dgm:param type="bkPtFixedVal" val="4"/>
                    </dgm:alg>
                  </dgm:else>
                </dgm:choose>
              </dgm:if>
              <dgm:else name="Name18">
                <dgm:choose name="Name19">
                  <dgm:if name="Name20" axis="ch" ptType="node" func="cnt" op="lte" val="25">
                    <dgm:choose name="Name21">
                      <dgm:if name="Name22" func="var" arg="dir" op="equ" val="norm">
                        <dgm:alg type="snake">
                          <dgm:param type="off" val="ctr"/>
                          <dgm:param type="bkpt" val="fixed"/>
                          <dgm:param type="bkPtFixedVal" val="5"/>
                        </dgm:alg>
                      </dgm:if>
                      <dgm:else name="Name23">
                        <dgm:alg type="snake">
                          <dgm:param type="off" val="ctr"/>
                          <dgm:param type="grDir" val="tR"/>
                          <dgm:param type="bkpt" val="fixed"/>
                          <dgm:param type="bkPtFixedVal" val="5"/>
                        </dgm:alg>
                      </dgm:else>
                    </dgm:choose>
                  </dgm:if>
                  <dgm:else name="Name24">
                    <dgm:choose name="Name25">
                      <dgm:if name="Name26" func="var" arg="dir" op="equ" val="norm">
                        <dgm:alg type="snake">
                          <dgm:param type="off" val="ctr"/>
                        </dgm:alg>
                      </dgm:if>
                      <dgm:else name="Name27">
                        <dgm:alg type="snake">
                          <dgm:param type="off" val="ctr"/>
                          <dgm:param type="grDir" val="tR"/>
                        </dgm:alg>
                      </dgm:else>
                    </dgm:choose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0.8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0.7568"/>
        </dgm:alg>
        <dgm:shape xmlns:r="http://schemas.openxmlformats.org/officeDocument/2006/relationships" r:blip="">
          <dgm:adjLst/>
        </dgm:shape>
        <dgm:constrLst>
          <dgm:constr type="l" for="ch" forName="rect1" refType="w" fact="0"/>
          <dgm:constr type="t" for="ch" forName="rect1" refType="h" fact="0.15"/>
          <dgm:constr type="w" for="ch" forName="rect1" refType="w"/>
          <dgm:constr type="h" for="ch" forName="rect1" refType="w"/>
          <dgm:constr type="l" for="ch" forName="rect2" refType="w" fact="0"/>
          <dgm:constr type="t" for="ch" forName="rect2" refType="h" fact="0"/>
          <dgm:constr type="w" for="ch" forName="rect2" refType="w"/>
          <dgm:constr type="h" for="ch" forName="rect2" refType="w" fact="0.15"/>
        </dgm:constrLst>
        <dgm:layoutNode name="rect2" styleLbl="revTx">
          <dgm:varLst>
            <dgm:bulletEnabled val="1"/>
          </dgm:varLst>
          <dgm:alg type="tx">
            <dgm:param type="stBulletLvl" val="3"/>
            <dgm:param type="parTxLTRAlign" val="l"/>
            <dgm:param type="parTxRTLAlign" val="r"/>
            <dgm:param type="txAnchorVert" val="b"/>
            <dgm:param type="txAnchorVertCh" val="b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"/>
            <dgm:constr type="rMarg" refType="primFontSz" fact="0.3"/>
            <dgm:constr type="tMarg" refType="primFontSz" fact="0.3"/>
            <dgm:constr type="bMarg" refType="primFontSz" fact="0"/>
            <dgm:constr type="secFontSz" refType="primFontSz" fact="0.8"/>
          </dgm:constrLst>
          <dgm:ruleLst>
            <dgm:rule type="primFontSz" val="5" fact="NaN" max="NaN"/>
          </dgm:ruleLst>
        </dgm:layoutNode>
        <dgm:layoutNode name="rect1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74775-EC85-4A5E-BE6E-86505FC5F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CE8502-8E76-4998-8E61-0705621A97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7759C-4E61-4BD3-B117-4F7606684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B4150-F1B1-414A-8AA5-711BFC6B64F7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088F5-2276-4761-9E38-9EA74E65F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4D6B0-513C-4086-85F4-FD9814C05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ABD0A-6419-43F6-8BD6-5FFFDBFAE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0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82788-1399-4EFC-8A43-059D02A3C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37401-9B5E-40CC-B707-9FC94C3DD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6C2D4-D97C-4820-A453-F6BEFCAEA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B4150-F1B1-414A-8AA5-711BFC6B64F7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07DD4-36E5-43E9-B7E2-AA3B0726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95576-74CE-4C35-BC07-B17723C97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ABD0A-6419-43F6-8BD6-5FFFDBFAE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65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6026B-D9A6-4137-A9E3-3AD38EB96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D63D7-DAAD-42D3-8A87-FA86855C9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2C8BB-7458-47E7-893C-2C37FE471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B4150-F1B1-414A-8AA5-711BFC6B64F7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36647-DB2A-4351-ADAE-6D35D2625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2B806-A9F3-47B4-9266-B4A0F13F7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ABD0A-6419-43F6-8BD6-5FFFDBFAE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39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B4378-17A5-44F6-96B8-48ED15C6F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19A2C-307C-4C71-8D62-BDEBFA4C5D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AC34E2-ECC8-4DCB-A937-331E1A231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E59231-C0B5-46A4-9C20-0A81FA030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B4150-F1B1-414A-8AA5-711BFC6B64F7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8E5FEE-8050-4B2D-9A14-6C6D7FC07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5F45C-5AA7-42D2-B1FA-F43F4F7CD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ABD0A-6419-43F6-8BD6-5FFFDBFAE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622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D758F-D97D-4299-9F5B-2927CD26B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C0E27-233B-4E37-8AB1-245D1ADCD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E5676-6840-4BF6-979C-5D4AF9B36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A9260-19F3-4CD4-883C-A291C365C9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184E6B-DBD9-46D6-B888-02DF19D4D0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27F857-44D1-4D61-8408-BC82C8DFA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B4150-F1B1-414A-8AA5-711BFC6B64F7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602E29-B0A8-47FE-9ED2-9356E1AE3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4145CB-58F4-4511-8339-0FB69BF38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ABD0A-6419-43F6-8BD6-5FFFDBFAE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15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16A25-ABB4-4910-9B90-946AA03B1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22B90C-3EDF-452B-B5B6-5D6F04DF3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B4150-F1B1-414A-8AA5-711BFC6B64F7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2DBCD8-E5D3-49BE-A78D-9F2FD1778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05994-9C44-4B9C-888B-F3324FEB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ABD0A-6419-43F6-8BD6-5FFFDBFAE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304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26D5F2-F321-497D-B543-449330A8B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B4150-F1B1-414A-8AA5-711BFC6B64F7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C9D7E2-447B-45E5-BD83-AE4527655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C8180-88C8-496B-AE94-AFF801330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ABD0A-6419-43F6-8BD6-5FFFDBFAE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61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656E7-89D0-48FA-9FDA-40C411B18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54385-82BD-4EFC-B489-E6C59A521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96DDBE-6EDA-456B-9D20-810C1526F8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7EAEE-4610-4654-8263-53E9B2D7B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B4150-F1B1-414A-8AA5-711BFC6B64F7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2D5E7-983B-485E-85E3-552A3184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8F28B-5FD4-4FAA-8A8A-97EE3F9C5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ABD0A-6419-43F6-8BD6-5FFFDBFAE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498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60DAA-2263-463C-82EB-B9C21F2BC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4F939A-40F0-4954-A9D2-1BB4CBFC06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D6A2B9-4E7B-46F6-9353-94145CA88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7DEF0C-F01D-4A8C-93AD-982361FF7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B4150-F1B1-414A-8AA5-711BFC6B64F7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3BFCB-24A6-483D-B5FF-7BAB8C0F7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B7DE0D-5D6A-45FB-8AC4-CADD2E7D1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ABD0A-6419-43F6-8BD6-5FFFDBFAE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768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4A31F-4A8B-4399-AE90-DCCFA1E8A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64755A-FA7C-4D15-9F4F-964D3AA8E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B1283-B8B1-4CEF-AE99-EB40D2DEF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B4150-F1B1-414A-8AA5-711BFC6B64F7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70243-F647-4DFA-BFD6-6238434C3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8416A-7E66-45A1-BD80-FE25F11D8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ABD0A-6419-43F6-8BD6-5FFFDBFAE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689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C875FF-C41F-4A83-AF7C-A147CB535F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CEBF20-EDD3-42A0-ABCA-E7CBE63866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239C7-5707-4187-A182-CF940A0A8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B4150-F1B1-414A-8AA5-711BFC6B64F7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8F4FB-CB35-43D4-9DEE-3A2AC23C1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4E392-C14C-429F-98A6-8EC54D342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ABD0A-6419-43F6-8BD6-5FFFDBFAE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369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508F3D-F8B7-493E-867C-828EB8955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8838A-A84B-4B69-8C21-D030EF64E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EE2C7-ED76-4D77-9455-D93E10D9E3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B4150-F1B1-414A-8AA5-711BFC6B64F7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A710A-578A-43F4-B011-A7A7FD7465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CBD11-C3B6-4555-8F30-109773BA94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BABD0A-6419-43F6-8BD6-5FFFDBFAE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4853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B4342A6-F017-42BF-9783-68C0310075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9095445"/>
              </p:ext>
            </p:extLst>
          </p:nvPr>
        </p:nvGraphicFramePr>
        <p:xfrm>
          <a:off x="3132482" y="465482"/>
          <a:ext cx="5927036" cy="59270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DFE17FF-19DF-4AB8-AFD2-62AB3745619A}"/>
              </a:ext>
            </a:extLst>
          </p:cNvPr>
          <p:cNvSpPr txBox="1"/>
          <p:nvPr/>
        </p:nvSpPr>
        <p:spPr>
          <a:xfrm>
            <a:off x="3461823" y="285785"/>
            <a:ext cx="71592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>
                <a:latin typeface="Arial Black" panose="020B0A04020102020204" pitchFamily="34" charset="0"/>
              </a:rPr>
              <a:t>WELCOME</a:t>
            </a:r>
          </a:p>
          <a:p>
            <a:pPr algn="ctr"/>
            <a:endParaRPr lang="en-US" sz="4400" b="1" i="1" dirty="0"/>
          </a:p>
        </p:txBody>
      </p:sp>
    </p:spTree>
    <p:extLst>
      <p:ext uri="{BB962C8B-B14F-4D97-AF65-F5344CB8AC3E}">
        <p14:creationId xmlns:p14="http://schemas.microsoft.com/office/powerpoint/2010/main" val="1878567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5A42A-5669-4227-9ED3-D66E3A6FD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024730" cy="1192695"/>
          </a:xfrm>
        </p:spPr>
        <p:txBody>
          <a:bodyPr>
            <a:normAutofit/>
          </a:bodyPr>
          <a:lstStyle/>
          <a:p>
            <a:r>
              <a:rPr lang="en-US" sz="4400" b="1" i="1" dirty="0">
                <a:latin typeface="+mn-lt"/>
              </a:rPr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D395D0-E197-445B-97D9-A53B0C5D9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160104"/>
            <a:ext cx="9197009" cy="3097696"/>
          </a:xfrm>
        </p:spPr>
        <p:txBody>
          <a:bodyPr/>
          <a:lstStyle/>
          <a:p>
            <a:r>
              <a:rPr lang="en-US" sz="2400" dirty="0"/>
              <a:t>BANK LOAN RISK DASHBOARD Customer</a:t>
            </a:r>
          </a:p>
          <a:p>
            <a:endParaRPr lang="en-US" sz="2400" dirty="0"/>
          </a:p>
          <a:p>
            <a:r>
              <a:rPr lang="en-US" sz="2400" dirty="0"/>
              <a:t> Credit Risk &amp; Pending Loan Analysis</a:t>
            </a:r>
          </a:p>
          <a:p>
            <a:r>
              <a:rPr lang="en-US" sz="2400" dirty="0"/>
              <a:t>Presented by: Archana Shinde | Sept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457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24D9BE-C755-42DA-AED7-4890674D5670}"/>
              </a:ext>
            </a:extLst>
          </p:cNvPr>
          <p:cNvSpPr txBox="1"/>
          <p:nvPr/>
        </p:nvSpPr>
        <p:spPr>
          <a:xfrm>
            <a:off x="2282229" y="1216464"/>
            <a:ext cx="32182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RISK FLAG SUMMARY</a:t>
            </a:r>
          </a:p>
          <a:p>
            <a:endParaRPr lang="en-US" sz="2400" dirty="0"/>
          </a:p>
          <a:p>
            <a:r>
              <a:rPr lang="en-US" dirty="0"/>
              <a:t> </a:t>
            </a:r>
            <a:r>
              <a:rPr lang="en-US" sz="2400" dirty="0"/>
              <a:t>Total  customers 5000</a:t>
            </a:r>
          </a:p>
          <a:p>
            <a:endParaRPr lang="en-US" dirty="0"/>
          </a:p>
          <a:p>
            <a:r>
              <a:rPr lang="en-US" dirty="0"/>
              <a:t>SAFE: 3182 (64%)</a:t>
            </a:r>
          </a:p>
          <a:p>
            <a:r>
              <a:rPr lang="en-US" dirty="0"/>
              <a:t>HIGH RISK: 1818 (36%)</a:t>
            </a:r>
          </a:p>
          <a:p>
            <a:r>
              <a:rPr lang="en-US" dirty="0"/>
              <a:t>Insight: 64%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A298C7-2ED7-40FB-B4B0-909DC54C8C08}"/>
              </a:ext>
            </a:extLst>
          </p:cNvPr>
          <p:cNvSpPr txBox="1"/>
          <p:nvPr/>
        </p:nvSpPr>
        <p:spPr>
          <a:xfrm>
            <a:off x="1986807" y="4384007"/>
            <a:ext cx="25429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PENDING LOAN STATUS</a:t>
            </a:r>
          </a:p>
          <a:p>
            <a:endParaRPr lang="en-US" dirty="0"/>
          </a:p>
          <a:p>
            <a:r>
              <a:rPr lang="en-US" dirty="0"/>
              <a:t>Done: 2460 (49%)</a:t>
            </a:r>
          </a:p>
          <a:p>
            <a:r>
              <a:rPr lang="en-US" dirty="0"/>
              <a:t>Follow-up Needed: 2540 (51%)</a:t>
            </a:r>
          </a:p>
          <a:p>
            <a:r>
              <a:rPr lang="en-US" dirty="0"/>
              <a:t>Insight: 2540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D0A967-91C8-4221-868A-CF9ECB679EDB}"/>
              </a:ext>
            </a:extLst>
          </p:cNvPr>
          <p:cNvSpPr txBox="1"/>
          <p:nvPr/>
        </p:nvSpPr>
        <p:spPr>
          <a:xfrm>
            <a:off x="2809461" y="251791"/>
            <a:ext cx="56984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1" dirty="0"/>
              <a:t>RISK FLAG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6E6B42F1-359B-4533-BAED-AAE13C0A99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1521054"/>
              </p:ext>
            </p:extLst>
          </p:nvPr>
        </p:nvGraphicFramePr>
        <p:xfrm>
          <a:off x="4185902" y="2200072"/>
          <a:ext cx="2945551" cy="1754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DD0CDF15-3A5B-44F3-8202-3DF2983BB5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2072650"/>
              </p:ext>
            </p:extLst>
          </p:nvPr>
        </p:nvGraphicFramePr>
        <p:xfrm>
          <a:off x="4740813" y="4384008"/>
          <a:ext cx="2672862" cy="2222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31374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034882-13FC-4DD0-BA69-ED9E14DD2A8D}"/>
              </a:ext>
            </a:extLst>
          </p:cNvPr>
          <p:cNvSpPr txBox="1"/>
          <p:nvPr/>
        </p:nvSpPr>
        <p:spPr>
          <a:xfrm>
            <a:off x="3048000" y="2093843"/>
            <a:ext cx="653332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Total Customers: 5000</a:t>
            </a:r>
          </a:p>
          <a:p>
            <a:endParaRPr lang="en-US" sz="3200" dirty="0"/>
          </a:p>
          <a:p>
            <a:r>
              <a:rPr lang="en-US" sz="3200" dirty="0"/>
              <a:t>SAFE Customers: 3182</a:t>
            </a:r>
          </a:p>
          <a:p>
            <a:endParaRPr lang="en-US" sz="3200" dirty="0"/>
          </a:p>
          <a:p>
            <a:r>
              <a:rPr lang="en-US" sz="3200" dirty="0"/>
              <a:t>Follow-up Due: 2540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B6491D-99A4-4AF5-8D39-4523B37D8BF5}"/>
              </a:ext>
            </a:extLst>
          </p:cNvPr>
          <p:cNvSpPr txBox="1"/>
          <p:nvPr/>
        </p:nvSpPr>
        <p:spPr>
          <a:xfrm>
            <a:off x="3048000" y="516835"/>
            <a:ext cx="57646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i="1" dirty="0"/>
              <a:t>KEY NUMBER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670E236-2D0C-41C8-81F3-08652946ED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4410791"/>
              </p:ext>
            </p:extLst>
          </p:nvPr>
        </p:nvGraphicFramePr>
        <p:xfrm>
          <a:off x="7315199" y="1828801"/>
          <a:ext cx="3981157" cy="40092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71751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B2CDA3-CFC0-4A81-B17D-0F9ECCBEE88E}"/>
              </a:ext>
            </a:extLst>
          </p:cNvPr>
          <p:cNvSpPr txBox="1"/>
          <p:nvPr/>
        </p:nvSpPr>
        <p:spPr>
          <a:xfrm>
            <a:off x="3180522" y="291548"/>
            <a:ext cx="5486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1" dirty="0"/>
              <a:t>RECOMMANDATION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840398-669F-4BE5-8CA7-745956B94A71}"/>
              </a:ext>
            </a:extLst>
          </p:cNvPr>
          <p:cNvSpPr txBox="1"/>
          <p:nvPr/>
        </p:nvSpPr>
        <p:spPr>
          <a:xfrm>
            <a:off x="642731" y="1775791"/>
            <a:ext cx="1133060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AutoNum type="arabicPeriod"/>
            </a:pPr>
            <a:r>
              <a:rPr lang="en-US" sz="2400" dirty="0"/>
              <a:t>High-Risk Segment (1818 Customers | 36%)   Strict monitoring required. No top-up loans should be approved without full credit verification and field  visit.</a:t>
            </a:r>
          </a:p>
          <a:p>
            <a:pPr marL="342900" indent="-342900" algn="ctr">
              <a:buAutoNum type="arabicPeriod"/>
            </a:pPr>
            <a:endParaRPr lang="en-US" dirty="0"/>
          </a:p>
          <a:p>
            <a:pPr marL="342900" indent="-342900" algn="ctr">
              <a:buAutoNum type="arabicPeriod"/>
            </a:pPr>
            <a:r>
              <a:rPr lang="en-US" dirty="0"/>
              <a:t> </a:t>
            </a:r>
            <a:r>
              <a:rPr lang="en-US" sz="2400" dirty="0"/>
              <a:t>Pending Follow-up (2540 Customers | 51%)   High priority. Assign to the tele-calling team immediately to clear pending status within 7 days.</a:t>
            </a:r>
          </a:p>
          <a:p>
            <a:pPr marL="342900" indent="-342900" algn="ctr">
              <a:buAutoNum type="arabicPeriod"/>
            </a:pPr>
            <a:endParaRPr lang="en-US" sz="2400" dirty="0"/>
          </a:p>
          <a:p>
            <a:pPr marL="342900" indent="-342900" algn="ctr">
              <a:buAutoNum type="arabicPeriod"/>
            </a:pPr>
            <a:r>
              <a:rPr lang="en-US" sz="2400" dirty="0"/>
              <a:t>Safe Customers (3182 Customers | 64%)   Good opportunity for cross-selling. These customers are eligible for top-up loan offers and pre-approved loans</a:t>
            </a:r>
            <a:r>
              <a:rPr lang="en-US" dirty="0"/>
              <a:t>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4</a:t>
            </a:r>
            <a:r>
              <a:rPr lang="en-US" sz="2400" dirty="0"/>
              <a:t>. Process Improvement   This dashboard should be refreshed weekly using data from Credit Risk and Repayments sheets to track progress.</a:t>
            </a:r>
          </a:p>
        </p:txBody>
      </p:sp>
    </p:spTree>
    <p:extLst>
      <p:ext uri="{BB962C8B-B14F-4D97-AF65-F5344CB8AC3E}">
        <p14:creationId xmlns:p14="http://schemas.microsoft.com/office/powerpoint/2010/main" val="718900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276046-C327-4E4B-ADBB-32EA31CE7D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" t="15820" r="3598" b="17538"/>
          <a:stretch/>
        </p:blipFill>
        <p:spPr>
          <a:xfrm>
            <a:off x="140677" y="1125415"/>
            <a:ext cx="12051324" cy="474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530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fl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184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Office Theme</vt:lpstr>
      <vt:lpstr>PowerPoint Presentation</vt:lpstr>
      <vt:lpstr>TITLE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archana shinde</dc:creator>
  <cp:lastModifiedBy>archana shinde</cp:lastModifiedBy>
  <cp:revision>11</cp:revision>
  <dcterms:created xsi:type="dcterms:W3CDTF">2026-09-25T17:06:22Z</dcterms:created>
  <dcterms:modified xsi:type="dcterms:W3CDTF">2026-09-26T07:52:27Z</dcterms:modified>
</cp:coreProperties>
</file>